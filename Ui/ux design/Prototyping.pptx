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sp>
      <p:sp>
        <p:nvSpPr>
          <p:cNvPr id="3" name="Text 1"/>
          <p:cNvSpPr/>
          <p:nvPr/>
        </p:nvSpPr>
        <p:spPr>
          <a:xfrm>
            <a:off x="640080" y="1097280"/>
            <a:ext cx="7863840" cy="1097280"/>
          </a:xfrm>
          <a:prstGeom prst="rect">
            <a:avLst/>
          </a:prstGeom>
          <a:noFill/>
          <a:ln/>
        </p:spPr>
        <p:txBody>
          <a:bodyPr wrap="square" lIns="0" tIns="0" rIns="0" bIns="0" rtlCol="0" anchor="ctr"/>
          <a:lstStyle/>
          <a:p>
            <a:pPr indent="0" marL="0">
              <a:buNone/>
            </a:pPr>
            <a:r>
              <a:rPr lang="en-US" sz="4400" b="1" dirty="0">
                <a:solidFill>
                  <a:srgbClr val="1A1A2E"/>
                </a:solidFill>
                <a:latin typeface="Calibri" pitchFamily="34" charset="0"/>
                <a:ea typeface="Calibri" pitchFamily="34" charset="-122"/>
                <a:cs typeface="Calibri" pitchFamily="34" charset="-120"/>
              </a:rPr>
              <a:t>UX/UI Prototyping</a:t>
            </a:r>
            <a:endParaRPr lang="en-US" sz="4400" dirty="0"/>
          </a:p>
        </p:txBody>
      </p:sp>
      <p:sp>
        <p:nvSpPr>
          <p:cNvPr id="4" name="Shape 2"/>
          <p:cNvSpPr/>
          <p:nvPr/>
        </p:nvSpPr>
        <p:spPr>
          <a:xfrm>
            <a:off x="640080" y="2331720"/>
            <a:ext cx="1097280" cy="54864"/>
          </a:xfrm>
          <a:prstGeom prst="rect">
            <a:avLst/>
          </a:prstGeom>
          <a:solidFill>
            <a:srgbClr val="2563EB"/>
          </a:solidFill>
          <a:ln w="12700">
            <a:solidFill>
              <a:srgbClr val="2563EB"/>
            </a:solidFill>
            <a:prstDash val="solid"/>
          </a:ln>
        </p:spPr>
      </p:sp>
      <p:sp>
        <p:nvSpPr>
          <p:cNvPr id="5" name="Text 3"/>
          <p:cNvSpPr/>
          <p:nvPr/>
        </p:nvSpPr>
        <p:spPr>
          <a:xfrm>
            <a:off x="640080" y="2514600"/>
            <a:ext cx="7863840" cy="457200"/>
          </a:xfrm>
          <a:prstGeom prst="rect">
            <a:avLst/>
          </a:prstGeom>
          <a:noFill/>
          <a:ln/>
        </p:spPr>
        <p:txBody>
          <a:bodyPr wrap="square" lIns="0" tIns="0" rIns="0" bIns="0" rtlCol="0" anchor="ctr"/>
          <a:lstStyle/>
          <a:p>
            <a:pPr indent="0" marL="0">
              <a:buNone/>
            </a:pPr>
            <a:r>
              <a:rPr lang="en-US" sz="1800" dirty="0">
                <a:solidFill>
                  <a:srgbClr val="2563EB"/>
                </a:solidFill>
                <a:latin typeface="Calibri" pitchFamily="34" charset="0"/>
                <a:ea typeface="Calibri" pitchFamily="34" charset="-122"/>
                <a:cs typeface="Calibri" pitchFamily="34" charset="-120"/>
              </a:rPr>
              <a:t>Task Option 2 — Building and Using a Prototype</a:t>
            </a:r>
            <a:endParaRPr lang="en-US" sz="1800" dirty="0"/>
          </a:p>
        </p:txBody>
      </p:sp>
      <p:sp>
        <p:nvSpPr>
          <p:cNvPr id="6" name="Text 4"/>
          <p:cNvSpPr/>
          <p:nvPr/>
        </p:nvSpPr>
        <p:spPr>
          <a:xfrm>
            <a:off x="640080" y="3108960"/>
            <a:ext cx="7315200" cy="7315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Applied to the Blog Automation Agent Project</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Kimberton AI Studio  ·  Internship</a:t>
            </a:r>
            <a:endParaRPr lang="en-US" sz="1400" dirty="0"/>
          </a:p>
        </p:txBody>
      </p:sp>
      <p:sp>
        <p:nvSpPr>
          <p:cNvPr id="7" name="Shape 5"/>
          <p:cNvSpPr/>
          <p:nvPr/>
        </p:nvSpPr>
        <p:spPr>
          <a:xfrm>
            <a:off x="0" y="5056632"/>
            <a:ext cx="9144000" cy="91440"/>
          </a:xfrm>
          <a:prstGeom prst="rect">
            <a:avLst/>
          </a:prstGeom>
          <a:solidFill>
            <a:srgbClr val="2563EB"/>
          </a:solidFill>
          <a:ln w="12700">
            <a:solidFill>
              <a:srgbClr val="2563E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sp>
      <p:sp>
        <p:nvSpPr>
          <p:cNvPr id="3" name="Text 1"/>
          <p:cNvSpPr/>
          <p:nvPr/>
        </p:nvSpPr>
        <p:spPr>
          <a:xfrm>
            <a:off x="548640" y="274320"/>
            <a:ext cx="8046720" cy="640080"/>
          </a:xfrm>
          <a:prstGeom prst="rect">
            <a:avLst/>
          </a:prstGeom>
          <a:noFill/>
          <a:ln/>
        </p:spPr>
        <p:txBody>
          <a:bodyPr wrap="square" lIns="0" tIns="0" rIns="0" bIns="0" rtlCol="0" anchor="ctr"/>
          <a:lstStyle/>
          <a:p>
            <a:pPr indent="0" marL="0">
              <a:buNone/>
            </a:pPr>
            <a:r>
              <a:rPr lang="en-US" sz="3000" b="1" dirty="0">
                <a:solidFill>
                  <a:srgbClr val="1A1A2E"/>
                </a:solidFill>
                <a:latin typeface="Calibri" pitchFamily="34" charset="0"/>
                <a:ea typeface="Calibri" pitchFamily="34" charset="-122"/>
                <a:cs typeface="Calibri" pitchFamily="34" charset="-120"/>
              </a:rPr>
              <a:t>What is Prototyping?</a:t>
            </a:r>
            <a:endParaRPr lang="en-US" sz="3000" dirty="0"/>
          </a:p>
        </p:txBody>
      </p:sp>
      <p:sp>
        <p:nvSpPr>
          <p:cNvPr id="4" name="Shape 2"/>
          <p:cNvSpPr/>
          <p:nvPr/>
        </p:nvSpPr>
        <p:spPr>
          <a:xfrm>
            <a:off x="548640" y="1005840"/>
            <a:ext cx="8046720" cy="1005840"/>
          </a:xfrm>
          <a:prstGeom prst="rect">
            <a:avLst/>
          </a:prstGeom>
          <a:solidFill>
            <a:srgbClr val="EFF6FF"/>
          </a:solidFill>
          <a:ln w="12700">
            <a:solidFill>
              <a:srgbClr val="DBEAFE"/>
            </a:solidFill>
            <a:prstDash val="solid"/>
          </a:ln>
        </p:spPr>
      </p:sp>
      <p:sp>
        <p:nvSpPr>
          <p:cNvPr id="5" name="Text 3"/>
          <p:cNvSpPr/>
          <p:nvPr/>
        </p:nvSpPr>
        <p:spPr>
          <a:xfrm>
            <a:off x="731520" y="1078992"/>
            <a:ext cx="7680960" cy="86868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Prototyping means creating representations of a system to explore, communicate, and evaluate design ideas before full implementation. Prototypes range from simple sketches to interactive high-fidelity simulations.</a:t>
            </a:r>
            <a:endParaRPr lang="en-US" sz="1300" dirty="0"/>
          </a:p>
        </p:txBody>
      </p:sp>
      <p:sp>
        <p:nvSpPr>
          <p:cNvPr id="6" name="Shape 4"/>
          <p:cNvSpPr/>
          <p:nvPr/>
        </p:nvSpPr>
        <p:spPr>
          <a:xfrm>
            <a:off x="548640" y="2240280"/>
            <a:ext cx="2560320" cy="2514600"/>
          </a:xfrm>
          <a:prstGeom prst="rect">
            <a:avLst/>
          </a:prstGeom>
          <a:solidFill>
            <a:srgbClr val="FFFFFF"/>
          </a:solidFill>
          <a:ln w="19050">
            <a:solidFill>
              <a:srgbClr val="DBEAFE"/>
            </a:solidFill>
            <a:prstDash val="solid"/>
          </a:ln>
        </p:spPr>
      </p:sp>
      <p:sp>
        <p:nvSpPr>
          <p:cNvPr id="7" name="Shape 5"/>
          <p:cNvSpPr/>
          <p:nvPr/>
        </p:nvSpPr>
        <p:spPr>
          <a:xfrm>
            <a:off x="548640" y="2240280"/>
            <a:ext cx="2560320" cy="64008"/>
          </a:xfrm>
          <a:prstGeom prst="rect">
            <a:avLst/>
          </a:prstGeom>
          <a:solidFill>
            <a:srgbClr val="2563EB"/>
          </a:solidFill>
          <a:ln w="12700">
            <a:solidFill>
              <a:srgbClr val="2563EB"/>
            </a:solidFill>
            <a:prstDash val="solid"/>
          </a:ln>
        </p:spPr>
      </p:sp>
      <p:sp>
        <p:nvSpPr>
          <p:cNvPr id="8" name="Text 6"/>
          <p:cNvSpPr/>
          <p:nvPr/>
        </p:nvSpPr>
        <p:spPr>
          <a:xfrm>
            <a:off x="658368" y="2377440"/>
            <a:ext cx="2340864"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Reduce Risk</a:t>
            </a:r>
            <a:endParaRPr lang="en-US" sz="1400" dirty="0"/>
          </a:p>
        </p:txBody>
      </p:sp>
      <p:sp>
        <p:nvSpPr>
          <p:cNvPr id="9" name="Text 7"/>
          <p:cNvSpPr/>
          <p:nvPr/>
        </p:nvSpPr>
        <p:spPr>
          <a:xfrm>
            <a:off x="658368" y="2834640"/>
            <a:ext cx="2340864" cy="173736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Test assumptions about usability and workflow early, while changes are still cheap.</a:t>
            </a:r>
            <a:endParaRPr lang="en-US" sz="1200" dirty="0"/>
          </a:p>
        </p:txBody>
      </p:sp>
      <p:sp>
        <p:nvSpPr>
          <p:cNvPr id="10" name="Shape 8"/>
          <p:cNvSpPr/>
          <p:nvPr/>
        </p:nvSpPr>
        <p:spPr>
          <a:xfrm>
            <a:off x="3337560" y="2240280"/>
            <a:ext cx="2560320" cy="2514600"/>
          </a:xfrm>
          <a:prstGeom prst="rect">
            <a:avLst/>
          </a:prstGeom>
          <a:solidFill>
            <a:srgbClr val="FFFFFF"/>
          </a:solidFill>
          <a:ln w="19050">
            <a:solidFill>
              <a:srgbClr val="DBEAFE"/>
            </a:solidFill>
            <a:prstDash val="solid"/>
          </a:ln>
        </p:spPr>
      </p:sp>
      <p:sp>
        <p:nvSpPr>
          <p:cNvPr id="11" name="Shape 9"/>
          <p:cNvSpPr/>
          <p:nvPr/>
        </p:nvSpPr>
        <p:spPr>
          <a:xfrm>
            <a:off x="3337560" y="2240280"/>
            <a:ext cx="2560320" cy="64008"/>
          </a:xfrm>
          <a:prstGeom prst="rect">
            <a:avLst/>
          </a:prstGeom>
          <a:solidFill>
            <a:srgbClr val="2563EB"/>
          </a:solidFill>
          <a:ln w="12700">
            <a:solidFill>
              <a:srgbClr val="2563EB"/>
            </a:solidFill>
            <a:prstDash val="solid"/>
          </a:ln>
        </p:spPr>
      </p:sp>
      <p:sp>
        <p:nvSpPr>
          <p:cNvPr id="12" name="Text 10"/>
          <p:cNvSpPr/>
          <p:nvPr/>
        </p:nvSpPr>
        <p:spPr>
          <a:xfrm>
            <a:off x="3447288" y="2377440"/>
            <a:ext cx="2340864"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Thinking Tool</a:t>
            </a:r>
            <a:endParaRPr lang="en-US" sz="1400" dirty="0"/>
          </a:p>
        </p:txBody>
      </p:sp>
      <p:sp>
        <p:nvSpPr>
          <p:cNvPr id="13" name="Text 11"/>
          <p:cNvSpPr/>
          <p:nvPr/>
        </p:nvSpPr>
        <p:spPr>
          <a:xfrm>
            <a:off x="3447288" y="2834640"/>
            <a:ext cx="2340864" cy="173736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Forces hidden decisions to become visible and exposes inconsistencies.</a:t>
            </a:r>
            <a:endParaRPr lang="en-US" sz="1200" dirty="0"/>
          </a:p>
        </p:txBody>
      </p:sp>
      <p:sp>
        <p:nvSpPr>
          <p:cNvPr id="14" name="Shape 12"/>
          <p:cNvSpPr/>
          <p:nvPr/>
        </p:nvSpPr>
        <p:spPr>
          <a:xfrm>
            <a:off x="6126480" y="2240280"/>
            <a:ext cx="2560320" cy="2514600"/>
          </a:xfrm>
          <a:prstGeom prst="rect">
            <a:avLst/>
          </a:prstGeom>
          <a:solidFill>
            <a:srgbClr val="FFFFFF"/>
          </a:solidFill>
          <a:ln w="19050">
            <a:solidFill>
              <a:srgbClr val="DBEAFE"/>
            </a:solidFill>
            <a:prstDash val="solid"/>
          </a:ln>
        </p:spPr>
      </p:sp>
      <p:sp>
        <p:nvSpPr>
          <p:cNvPr id="15" name="Shape 13"/>
          <p:cNvSpPr/>
          <p:nvPr/>
        </p:nvSpPr>
        <p:spPr>
          <a:xfrm>
            <a:off x="6126480" y="2240280"/>
            <a:ext cx="2560320" cy="64008"/>
          </a:xfrm>
          <a:prstGeom prst="rect">
            <a:avLst/>
          </a:prstGeom>
          <a:solidFill>
            <a:srgbClr val="2563EB"/>
          </a:solidFill>
          <a:ln w="12700">
            <a:solidFill>
              <a:srgbClr val="2563EB"/>
            </a:solidFill>
            <a:prstDash val="solid"/>
          </a:ln>
        </p:spPr>
      </p:sp>
      <p:sp>
        <p:nvSpPr>
          <p:cNvPr id="16" name="Text 14"/>
          <p:cNvSpPr/>
          <p:nvPr/>
        </p:nvSpPr>
        <p:spPr>
          <a:xfrm>
            <a:off x="6236208" y="2377440"/>
            <a:ext cx="2340864"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Shared Artifact</a:t>
            </a:r>
            <a:endParaRPr lang="en-US" sz="1400" dirty="0"/>
          </a:p>
        </p:txBody>
      </p:sp>
      <p:sp>
        <p:nvSpPr>
          <p:cNvPr id="17" name="Text 15"/>
          <p:cNvSpPr/>
          <p:nvPr/>
        </p:nvSpPr>
        <p:spPr>
          <a:xfrm>
            <a:off x="6236208" y="2834640"/>
            <a:ext cx="2340864" cy="173736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Enables collaboration between designers, engineers, and stakeholders.</a:t>
            </a:r>
            <a:endParaRPr lang="en-US" sz="1200" dirty="0"/>
          </a:p>
        </p:txBody>
      </p:sp>
      <p:sp>
        <p:nvSpPr>
          <p:cNvPr id="18" name="Shape 16"/>
          <p:cNvSpPr/>
          <p:nvPr/>
        </p:nvSpPr>
        <p:spPr>
          <a:xfrm>
            <a:off x="0" y="5056632"/>
            <a:ext cx="9144000" cy="91440"/>
          </a:xfrm>
          <a:prstGeom prst="rect">
            <a:avLst/>
          </a:prstGeom>
          <a:solidFill>
            <a:srgbClr val="2563EB"/>
          </a:solidFill>
          <a:ln w="12700">
            <a:solidFill>
              <a:srgbClr val="2563EB"/>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sp>
      <p:sp>
        <p:nvSpPr>
          <p:cNvPr id="3" name="Text 1"/>
          <p:cNvSpPr/>
          <p:nvPr/>
        </p:nvSpPr>
        <p:spPr>
          <a:xfrm>
            <a:off x="548640" y="274320"/>
            <a:ext cx="8046720" cy="640080"/>
          </a:xfrm>
          <a:prstGeom prst="rect">
            <a:avLst/>
          </a:prstGeom>
          <a:noFill/>
          <a:ln/>
        </p:spPr>
        <p:txBody>
          <a:bodyPr wrap="square" lIns="0" tIns="0" rIns="0" bIns="0" rtlCol="0" anchor="ctr"/>
          <a:lstStyle/>
          <a:p>
            <a:pPr indent="0" marL="0">
              <a:buNone/>
            </a:pPr>
            <a:r>
              <a:rPr lang="en-US" sz="3000" b="1" dirty="0">
                <a:solidFill>
                  <a:srgbClr val="1A1A2E"/>
                </a:solidFill>
                <a:latin typeface="Calibri" pitchFamily="34" charset="0"/>
                <a:ea typeface="Calibri" pitchFamily="34" charset="-122"/>
                <a:cs typeface="Calibri" pitchFamily="34" charset="-120"/>
              </a:rPr>
              <a:t>Choosing Fidelity Level</a:t>
            </a:r>
            <a:endParaRPr lang="en-US" sz="3000" dirty="0"/>
          </a:p>
        </p:txBody>
      </p:sp>
      <p:sp>
        <p:nvSpPr>
          <p:cNvPr id="4" name="Shape 2"/>
          <p:cNvSpPr/>
          <p:nvPr/>
        </p:nvSpPr>
        <p:spPr>
          <a:xfrm>
            <a:off x="457200" y="1097280"/>
            <a:ext cx="8229600" cy="1078992"/>
          </a:xfrm>
          <a:prstGeom prst="rect">
            <a:avLst/>
          </a:prstGeom>
          <a:solidFill>
            <a:srgbClr val="DBEAFE"/>
          </a:solidFill>
          <a:ln w="12700">
            <a:solidFill>
              <a:srgbClr val="E5E7EB"/>
            </a:solidFill>
            <a:prstDash val="solid"/>
          </a:ln>
        </p:spPr>
      </p:sp>
      <p:sp>
        <p:nvSpPr>
          <p:cNvPr id="5" name="Shape 3"/>
          <p:cNvSpPr/>
          <p:nvPr/>
        </p:nvSpPr>
        <p:spPr>
          <a:xfrm>
            <a:off x="457200" y="1097280"/>
            <a:ext cx="1005840" cy="1078992"/>
          </a:xfrm>
          <a:prstGeom prst="rect">
            <a:avLst/>
          </a:prstGeom>
          <a:solidFill>
            <a:srgbClr val="2563EB"/>
          </a:solidFill>
          <a:ln w="12700">
            <a:solidFill>
              <a:srgbClr val="2563EB"/>
            </a:solidFill>
            <a:prstDash val="solid"/>
          </a:ln>
        </p:spPr>
      </p:sp>
      <p:sp>
        <p:nvSpPr>
          <p:cNvPr id="6" name="Text 4"/>
          <p:cNvSpPr/>
          <p:nvPr/>
        </p:nvSpPr>
        <p:spPr>
          <a:xfrm>
            <a:off x="457200" y="1371600"/>
            <a:ext cx="1005840"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Low</a:t>
            </a:r>
            <a:endParaRPr lang="en-US" sz="1800" dirty="0"/>
          </a:p>
        </p:txBody>
      </p:sp>
      <p:sp>
        <p:nvSpPr>
          <p:cNvPr id="7" name="Text 5"/>
          <p:cNvSpPr/>
          <p:nvPr/>
        </p:nvSpPr>
        <p:spPr>
          <a:xfrm>
            <a:off x="1600200" y="1188720"/>
            <a:ext cx="6949440" cy="32004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Structure &amp; Flow</a:t>
            </a:r>
            <a:endParaRPr lang="en-US" sz="1300" dirty="0"/>
          </a:p>
        </p:txBody>
      </p:sp>
      <p:sp>
        <p:nvSpPr>
          <p:cNvPr id="8" name="Text 6"/>
          <p:cNvSpPr/>
          <p:nvPr/>
        </p:nvSpPr>
        <p:spPr>
          <a:xfrm>
            <a:off x="1600200" y="1527048"/>
            <a:ext cx="6949440" cy="256032"/>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Tools: Paper sketches, N8N flow diagrams</a:t>
            </a:r>
            <a:endParaRPr lang="en-US" sz="1100" dirty="0"/>
          </a:p>
        </p:txBody>
      </p:sp>
      <p:sp>
        <p:nvSpPr>
          <p:cNvPr id="9" name="Text 7"/>
          <p:cNvSpPr/>
          <p:nvPr/>
        </p:nvSpPr>
        <p:spPr>
          <a:xfrm>
            <a:off x="1600200" y="1810512"/>
            <a:ext cx="6858000" cy="292608"/>
          </a:xfrm>
          <a:prstGeom prst="rect">
            <a:avLst/>
          </a:prstGeom>
          <a:noFill/>
          <a:ln/>
        </p:spPr>
        <p:txBody>
          <a:bodyPr wrap="square" lIns="0" tIns="0" rIns="0" bIns="0" rtlCol="0" anchor="ctr"/>
          <a:lstStyle/>
          <a:p>
            <a:pPr indent="0" marL="0">
              <a:buNone/>
            </a:pPr>
            <a:r>
              <a:rPr lang="en-US" sz="1100" dirty="0">
                <a:solidFill>
                  <a:srgbClr val="1D4ED8"/>
                </a:solidFill>
                <a:latin typeface="Calibri" pitchFamily="34" charset="0"/>
                <a:ea typeface="Calibri" pitchFamily="34" charset="-122"/>
                <a:cs typeface="Calibri" pitchFamily="34" charset="-120"/>
              </a:rPr>
              <a:t>→ Sketched Blog Agent workflow: Sheets → ValueSERP → Gemini → WordPress → log back</a:t>
            </a:r>
            <a:endParaRPr lang="en-US" sz="1100" dirty="0"/>
          </a:p>
        </p:txBody>
      </p:sp>
      <p:sp>
        <p:nvSpPr>
          <p:cNvPr id="10" name="Shape 8"/>
          <p:cNvSpPr/>
          <p:nvPr/>
        </p:nvSpPr>
        <p:spPr>
          <a:xfrm>
            <a:off x="457200" y="2331720"/>
            <a:ext cx="8229600" cy="1078992"/>
          </a:xfrm>
          <a:prstGeom prst="rect">
            <a:avLst/>
          </a:prstGeom>
          <a:solidFill>
            <a:srgbClr val="DCFCE7"/>
          </a:solidFill>
          <a:ln w="12700">
            <a:solidFill>
              <a:srgbClr val="E5E7EB"/>
            </a:solidFill>
            <a:prstDash val="solid"/>
          </a:ln>
        </p:spPr>
      </p:sp>
      <p:sp>
        <p:nvSpPr>
          <p:cNvPr id="11" name="Shape 9"/>
          <p:cNvSpPr/>
          <p:nvPr/>
        </p:nvSpPr>
        <p:spPr>
          <a:xfrm>
            <a:off x="457200" y="2331720"/>
            <a:ext cx="1005840" cy="1078992"/>
          </a:xfrm>
          <a:prstGeom prst="rect">
            <a:avLst/>
          </a:prstGeom>
          <a:solidFill>
            <a:srgbClr val="16A34A"/>
          </a:solidFill>
          <a:ln w="12700">
            <a:solidFill>
              <a:srgbClr val="16A34A"/>
            </a:solidFill>
            <a:prstDash val="solid"/>
          </a:ln>
        </p:spPr>
      </p:sp>
      <p:sp>
        <p:nvSpPr>
          <p:cNvPr id="12" name="Text 10"/>
          <p:cNvSpPr/>
          <p:nvPr/>
        </p:nvSpPr>
        <p:spPr>
          <a:xfrm>
            <a:off x="457200" y="2606040"/>
            <a:ext cx="1005840"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Mid</a:t>
            </a:r>
            <a:endParaRPr lang="en-US" sz="1800" dirty="0"/>
          </a:p>
        </p:txBody>
      </p:sp>
      <p:sp>
        <p:nvSpPr>
          <p:cNvPr id="13" name="Text 11"/>
          <p:cNvSpPr/>
          <p:nvPr/>
        </p:nvSpPr>
        <p:spPr>
          <a:xfrm>
            <a:off x="1600200" y="2423160"/>
            <a:ext cx="6949440" cy="32004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Interaction &amp; Validation</a:t>
            </a:r>
            <a:endParaRPr lang="en-US" sz="1300" dirty="0"/>
          </a:p>
        </p:txBody>
      </p:sp>
      <p:sp>
        <p:nvSpPr>
          <p:cNvPr id="14" name="Text 12"/>
          <p:cNvSpPr/>
          <p:nvPr/>
        </p:nvSpPr>
        <p:spPr>
          <a:xfrm>
            <a:off x="1600200" y="2761488"/>
            <a:ext cx="6949440" cy="256032"/>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Tools: N8N canvas with test/dummy data runs</a:t>
            </a:r>
            <a:endParaRPr lang="en-US" sz="1100" dirty="0"/>
          </a:p>
        </p:txBody>
      </p:sp>
      <p:sp>
        <p:nvSpPr>
          <p:cNvPr id="15" name="Text 13"/>
          <p:cNvSpPr/>
          <p:nvPr/>
        </p:nvSpPr>
        <p:spPr>
          <a:xfrm>
            <a:off x="1600200" y="3044952"/>
            <a:ext cx="6858000" cy="292608"/>
          </a:xfrm>
          <a:prstGeom prst="rect">
            <a:avLst/>
          </a:prstGeom>
          <a:noFill/>
          <a:ln/>
        </p:spPr>
        <p:txBody>
          <a:bodyPr wrap="square" lIns="0" tIns="0" rIns="0" bIns="0" rtlCol="0" anchor="ctr"/>
          <a:lstStyle/>
          <a:p>
            <a:pPr indent="0" marL="0">
              <a:buNone/>
            </a:pPr>
            <a:r>
              <a:rPr lang="en-US" sz="1100" dirty="0">
                <a:solidFill>
                  <a:srgbClr val="1D4ED8"/>
                </a:solidFill>
                <a:latin typeface="Calibri" pitchFamily="34" charset="0"/>
                <a:ea typeface="Calibri" pitchFamily="34" charset="-122"/>
                <a:cs typeface="Calibri" pitchFamily="34" charset="-120"/>
              </a:rPr>
              <a:t>→ Built partial workflow with mock data to confirm Gemini output format before live runs</a:t>
            </a:r>
            <a:endParaRPr lang="en-US" sz="1100" dirty="0"/>
          </a:p>
        </p:txBody>
      </p:sp>
      <p:sp>
        <p:nvSpPr>
          <p:cNvPr id="16" name="Shape 14"/>
          <p:cNvSpPr/>
          <p:nvPr/>
        </p:nvSpPr>
        <p:spPr>
          <a:xfrm>
            <a:off x="457200" y="3566160"/>
            <a:ext cx="8229600" cy="1078992"/>
          </a:xfrm>
          <a:prstGeom prst="rect">
            <a:avLst/>
          </a:prstGeom>
          <a:solidFill>
            <a:srgbClr val="FEF3C7"/>
          </a:solidFill>
          <a:ln w="12700">
            <a:solidFill>
              <a:srgbClr val="E5E7EB"/>
            </a:solidFill>
            <a:prstDash val="solid"/>
          </a:ln>
        </p:spPr>
      </p:sp>
      <p:sp>
        <p:nvSpPr>
          <p:cNvPr id="17" name="Shape 15"/>
          <p:cNvSpPr/>
          <p:nvPr/>
        </p:nvSpPr>
        <p:spPr>
          <a:xfrm>
            <a:off x="457200" y="3566160"/>
            <a:ext cx="1005840" cy="1078992"/>
          </a:xfrm>
          <a:prstGeom prst="rect">
            <a:avLst/>
          </a:prstGeom>
          <a:solidFill>
            <a:srgbClr val="D97706"/>
          </a:solidFill>
          <a:ln w="12700">
            <a:solidFill>
              <a:srgbClr val="D97706"/>
            </a:solidFill>
            <a:prstDash val="solid"/>
          </a:ln>
        </p:spPr>
      </p:sp>
      <p:sp>
        <p:nvSpPr>
          <p:cNvPr id="18" name="Text 16"/>
          <p:cNvSpPr/>
          <p:nvPr/>
        </p:nvSpPr>
        <p:spPr>
          <a:xfrm>
            <a:off x="457200" y="3840480"/>
            <a:ext cx="1005840"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High</a:t>
            </a:r>
            <a:endParaRPr lang="en-US" sz="1800" dirty="0"/>
          </a:p>
        </p:txBody>
      </p:sp>
      <p:sp>
        <p:nvSpPr>
          <p:cNvPr id="19" name="Text 17"/>
          <p:cNvSpPr/>
          <p:nvPr/>
        </p:nvSpPr>
        <p:spPr>
          <a:xfrm>
            <a:off x="1600200" y="3657600"/>
            <a:ext cx="6949440" cy="32004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Full System Simulation</a:t>
            </a:r>
            <a:endParaRPr lang="en-US" sz="1300" dirty="0"/>
          </a:p>
        </p:txBody>
      </p:sp>
      <p:sp>
        <p:nvSpPr>
          <p:cNvPr id="20" name="Text 18"/>
          <p:cNvSpPr/>
          <p:nvPr/>
        </p:nvSpPr>
        <p:spPr>
          <a:xfrm>
            <a:off x="1600200" y="3995928"/>
            <a:ext cx="6949440" cy="256032"/>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Tools: Complete N8N workflow + real APIs + Google Sheets</a:t>
            </a:r>
            <a:endParaRPr lang="en-US" sz="1100" dirty="0"/>
          </a:p>
        </p:txBody>
      </p:sp>
      <p:sp>
        <p:nvSpPr>
          <p:cNvPr id="21" name="Text 19"/>
          <p:cNvSpPr/>
          <p:nvPr/>
        </p:nvSpPr>
        <p:spPr>
          <a:xfrm>
            <a:off x="1600200" y="4279392"/>
            <a:ext cx="6858000" cy="292608"/>
          </a:xfrm>
          <a:prstGeom prst="rect">
            <a:avLst/>
          </a:prstGeom>
          <a:noFill/>
          <a:ln/>
        </p:spPr>
        <p:txBody>
          <a:bodyPr wrap="square" lIns="0" tIns="0" rIns="0" bIns="0" rtlCol="0" anchor="ctr"/>
          <a:lstStyle/>
          <a:p>
            <a:pPr indent="0" marL="0">
              <a:buNone/>
            </a:pPr>
            <a:r>
              <a:rPr lang="en-US" sz="1100" dirty="0">
                <a:solidFill>
                  <a:srgbClr val="1D4ED8"/>
                </a:solidFill>
                <a:latin typeface="Calibri" pitchFamily="34" charset="0"/>
                <a:ea typeface="Calibri" pitchFamily="34" charset="-122"/>
                <a:cs typeface="Calibri" pitchFamily="34" charset="-120"/>
              </a:rPr>
              <a:t>→ End-to-end pipeline: live keywords → Gemini article → WordPress publish + metadata</a:t>
            </a:r>
            <a:endParaRPr lang="en-US" sz="1100" dirty="0"/>
          </a:p>
        </p:txBody>
      </p:sp>
      <p:sp>
        <p:nvSpPr>
          <p:cNvPr id="22" name="Shape 20"/>
          <p:cNvSpPr/>
          <p:nvPr/>
        </p:nvSpPr>
        <p:spPr>
          <a:xfrm>
            <a:off x="0" y="5056632"/>
            <a:ext cx="9144000" cy="91440"/>
          </a:xfrm>
          <a:prstGeom prst="rect">
            <a:avLst/>
          </a:prstGeom>
          <a:solidFill>
            <a:srgbClr val="2563EB"/>
          </a:solidFill>
          <a:ln w="12700">
            <a:solidFill>
              <a:srgbClr val="2563EB"/>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sp>
      <p:sp>
        <p:nvSpPr>
          <p:cNvPr id="3" name="Text 1"/>
          <p:cNvSpPr/>
          <p:nvPr/>
        </p:nvSpPr>
        <p:spPr>
          <a:xfrm>
            <a:off x="548640" y="274320"/>
            <a:ext cx="8046720" cy="640080"/>
          </a:xfrm>
          <a:prstGeom prst="rect">
            <a:avLst/>
          </a:prstGeom>
          <a:noFill/>
          <a:ln/>
        </p:spPr>
        <p:txBody>
          <a:bodyPr wrap="square" lIns="0" tIns="0" rIns="0" bIns="0" rtlCol="0" anchor="ctr"/>
          <a:lstStyle/>
          <a:p>
            <a:pPr indent="0" marL="0">
              <a:buNone/>
            </a:pPr>
            <a:r>
              <a:rPr lang="en-US" sz="3000" b="1" dirty="0">
                <a:solidFill>
                  <a:srgbClr val="1A1A2E"/>
                </a:solidFill>
                <a:latin typeface="Calibri" pitchFamily="34" charset="0"/>
                <a:ea typeface="Calibri" pitchFamily="34" charset="-122"/>
                <a:cs typeface="Calibri" pitchFamily="34" charset="-120"/>
              </a:rPr>
              <a:t>Project — Blog Automation Agent</a:t>
            </a:r>
            <a:endParaRPr lang="en-US" sz="3000" dirty="0"/>
          </a:p>
        </p:txBody>
      </p:sp>
      <p:sp>
        <p:nvSpPr>
          <p:cNvPr id="4" name="Text 2"/>
          <p:cNvSpPr/>
          <p:nvPr/>
        </p:nvSpPr>
        <p:spPr>
          <a:xfrm>
            <a:off x="548640" y="1051560"/>
            <a:ext cx="3840480" cy="347472"/>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About the Project</a:t>
            </a:r>
            <a:endParaRPr lang="en-US" sz="1400" dirty="0"/>
          </a:p>
        </p:txBody>
      </p:sp>
      <p:sp>
        <p:nvSpPr>
          <p:cNvPr id="5" name="Text 3"/>
          <p:cNvSpPr/>
          <p:nvPr/>
        </p:nvSpPr>
        <p:spPr>
          <a:xfrm>
            <a:off x="548640" y="1463040"/>
            <a:ext cx="3840480" cy="201168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 fully automated SEO article pipeline built in N8N during the Kimberton AI Studio internship. Reads topic ideas from Google Sheets, researches keywords, generates content with Gemini AI, and publishes to WordPress with RankMath SEO metadata.</a:t>
            </a:r>
            <a:endParaRPr lang="en-US" sz="1200" dirty="0"/>
          </a:p>
        </p:txBody>
      </p:sp>
      <p:sp>
        <p:nvSpPr>
          <p:cNvPr id="6" name="Text 4"/>
          <p:cNvSpPr/>
          <p:nvPr/>
        </p:nvSpPr>
        <p:spPr>
          <a:xfrm>
            <a:off x="4754880" y="1051560"/>
            <a:ext cx="4023360" cy="347472"/>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Pipeline Steps</a:t>
            </a:r>
            <a:endParaRPr lang="en-US" sz="1400" dirty="0"/>
          </a:p>
        </p:txBody>
      </p:sp>
      <p:sp>
        <p:nvSpPr>
          <p:cNvPr id="7" name="Shape 5"/>
          <p:cNvSpPr/>
          <p:nvPr/>
        </p:nvSpPr>
        <p:spPr>
          <a:xfrm>
            <a:off x="4754880" y="1463040"/>
            <a:ext cx="4023360" cy="384048"/>
          </a:xfrm>
          <a:prstGeom prst="rect">
            <a:avLst/>
          </a:prstGeom>
          <a:solidFill>
            <a:srgbClr val="EFF6FF"/>
          </a:solidFill>
          <a:ln w="6350">
            <a:solidFill>
              <a:srgbClr val="DBEAFE"/>
            </a:solidFill>
            <a:prstDash val="solid"/>
          </a:ln>
        </p:spPr>
      </p:sp>
      <p:sp>
        <p:nvSpPr>
          <p:cNvPr id="8" name="Text 6"/>
          <p:cNvSpPr/>
          <p:nvPr/>
        </p:nvSpPr>
        <p:spPr>
          <a:xfrm>
            <a:off x="4892040" y="1490472"/>
            <a:ext cx="3749040" cy="3291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1.  Google Sheets → topic ideas</a:t>
            </a:r>
            <a:endParaRPr lang="en-US" sz="1150" dirty="0"/>
          </a:p>
        </p:txBody>
      </p:sp>
      <p:sp>
        <p:nvSpPr>
          <p:cNvPr id="9" name="Shape 7"/>
          <p:cNvSpPr/>
          <p:nvPr/>
        </p:nvSpPr>
        <p:spPr>
          <a:xfrm>
            <a:off x="4754880" y="1883664"/>
            <a:ext cx="4023360" cy="384048"/>
          </a:xfrm>
          <a:prstGeom prst="rect">
            <a:avLst/>
          </a:prstGeom>
          <a:solidFill>
            <a:srgbClr val="FFFFFF"/>
          </a:solidFill>
          <a:ln w="6350">
            <a:solidFill>
              <a:srgbClr val="DBEAFE"/>
            </a:solidFill>
            <a:prstDash val="solid"/>
          </a:ln>
        </p:spPr>
      </p:sp>
      <p:sp>
        <p:nvSpPr>
          <p:cNvPr id="10" name="Text 8"/>
          <p:cNvSpPr/>
          <p:nvPr/>
        </p:nvSpPr>
        <p:spPr>
          <a:xfrm>
            <a:off x="4892040" y="1911096"/>
            <a:ext cx="3749040" cy="3291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2.  ValueSERP → keyword research</a:t>
            </a:r>
            <a:endParaRPr lang="en-US" sz="1150" dirty="0"/>
          </a:p>
        </p:txBody>
      </p:sp>
      <p:sp>
        <p:nvSpPr>
          <p:cNvPr id="11" name="Shape 9"/>
          <p:cNvSpPr/>
          <p:nvPr/>
        </p:nvSpPr>
        <p:spPr>
          <a:xfrm>
            <a:off x="4754880" y="2304288"/>
            <a:ext cx="4023360" cy="384048"/>
          </a:xfrm>
          <a:prstGeom prst="rect">
            <a:avLst/>
          </a:prstGeom>
          <a:solidFill>
            <a:srgbClr val="EFF6FF"/>
          </a:solidFill>
          <a:ln w="6350">
            <a:solidFill>
              <a:srgbClr val="DBEAFE"/>
            </a:solidFill>
            <a:prstDash val="solid"/>
          </a:ln>
        </p:spPr>
      </p:sp>
      <p:sp>
        <p:nvSpPr>
          <p:cNvPr id="12" name="Text 10"/>
          <p:cNvSpPr/>
          <p:nvPr/>
        </p:nvSpPr>
        <p:spPr>
          <a:xfrm>
            <a:off x="4892040" y="2331720"/>
            <a:ext cx="3749040" cy="3291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3.  Gemini AI → best keyword</a:t>
            </a:r>
            <a:endParaRPr lang="en-US" sz="1150" dirty="0"/>
          </a:p>
        </p:txBody>
      </p:sp>
      <p:sp>
        <p:nvSpPr>
          <p:cNvPr id="13" name="Shape 11"/>
          <p:cNvSpPr/>
          <p:nvPr/>
        </p:nvSpPr>
        <p:spPr>
          <a:xfrm>
            <a:off x="4754880" y="2724912"/>
            <a:ext cx="4023360" cy="384048"/>
          </a:xfrm>
          <a:prstGeom prst="rect">
            <a:avLst/>
          </a:prstGeom>
          <a:solidFill>
            <a:srgbClr val="FFFFFF"/>
          </a:solidFill>
          <a:ln w="6350">
            <a:solidFill>
              <a:srgbClr val="DBEAFE"/>
            </a:solidFill>
            <a:prstDash val="solid"/>
          </a:ln>
        </p:spPr>
      </p:sp>
      <p:sp>
        <p:nvSpPr>
          <p:cNvPr id="14" name="Text 12"/>
          <p:cNvSpPr/>
          <p:nvPr/>
        </p:nvSpPr>
        <p:spPr>
          <a:xfrm>
            <a:off x="4892040" y="2752344"/>
            <a:ext cx="3749040" cy="3291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4.  Duplicate check</a:t>
            </a:r>
            <a:endParaRPr lang="en-US" sz="1150" dirty="0"/>
          </a:p>
        </p:txBody>
      </p:sp>
      <p:sp>
        <p:nvSpPr>
          <p:cNvPr id="15" name="Shape 13"/>
          <p:cNvSpPr/>
          <p:nvPr/>
        </p:nvSpPr>
        <p:spPr>
          <a:xfrm>
            <a:off x="4754880" y="3145536"/>
            <a:ext cx="4023360" cy="384048"/>
          </a:xfrm>
          <a:prstGeom prst="rect">
            <a:avLst/>
          </a:prstGeom>
          <a:solidFill>
            <a:srgbClr val="EFF6FF"/>
          </a:solidFill>
          <a:ln w="6350">
            <a:solidFill>
              <a:srgbClr val="DBEAFE"/>
            </a:solidFill>
            <a:prstDash val="solid"/>
          </a:ln>
        </p:spPr>
      </p:sp>
      <p:sp>
        <p:nvSpPr>
          <p:cNvPr id="16" name="Text 14"/>
          <p:cNvSpPr/>
          <p:nvPr/>
        </p:nvSpPr>
        <p:spPr>
          <a:xfrm>
            <a:off x="4892040" y="3172968"/>
            <a:ext cx="3749040" cy="3291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5.  Gemini AI → full SEO article</a:t>
            </a:r>
            <a:endParaRPr lang="en-US" sz="1150" dirty="0"/>
          </a:p>
        </p:txBody>
      </p:sp>
      <p:sp>
        <p:nvSpPr>
          <p:cNvPr id="17" name="Shape 15"/>
          <p:cNvSpPr/>
          <p:nvPr/>
        </p:nvSpPr>
        <p:spPr>
          <a:xfrm>
            <a:off x="4754880" y="3566160"/>
            <a:ext cx="4023360" cy="384048"/>
          </a:xfrm>
          <a:prstGeom prst="rect">
            <a:avLst/>
          </a:prstGeom>
          <a:solidFill>
            <a:srgbClr val="FFFFFF"/>
          </a:solidFill>
          <a:ln w="6350">
            <a:solidFill>
              <a:srgbClr val="DBEAFE"/>
            </a:solidFill>
            <a:prstDash val="solid"/>
          </a:ln>
        </p:spPr>
      </p:sp>
      <p:sp>
        <p:nvSpPr>
          <p:cNvPr id="18" name="Text 16"/>
          <p:cNvSpPr/>
          <p:nvPr/>
        </p:nvSpPr>
        <p:spPr>
          <a:xfrm>
            <a:off x="4892040" y="3593592"/>
            <a:ext cx="3749040" cy="3291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6.  WordPress → publish + SEO</a:t>
            </a:r>
            <a:endParaRPr lang="en-US" sz="1150" dirty="0"/>
          </a:p>
        </p:txBody>
      </p:sp>
      <p:sp>
        <p:nvSpPr>
          <p:cNvPr id="19" name="Shape 17"/>
          <p:cNvSpPr/>
          <p:nvPr/>
        </p:nvSpPr>
        <p:spPr>
          <a:xfrm>
            <a:off x="4754880" y="3986784"/>
            <a:ext cx="4023360" cy="384048"/>
          </a:xfrm>
          <a:prstGeom prst="rect">
            <a:avLst/>
          </a:prstGeom>
          <a:solidFill>
            <a:srgbClr val="EFF6FF"/>
          </a:solidFill>
          <a:ln w="6350">
            <a:solidFill>
              <a:srgbClr val="DBEAFE"/>
            </a:solidFill>
            <a:prstDash val="solid"/>
          </a:ln>
        </p:spPr>
      </p:sp>
      <p:sp>
        <p:nvSpPr>
          <p:cNvPr id="20" name="Text 18"/>
          <p:cNvSpPr/>
          <p:nvPr/>
        </p:nvSpPr>
        <p:spPr>
          <a:xfrm>
            <a:off x="4892040" y="4014216"/>
            <a:ext cx="3749040" cy="3291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7.  Google Sheets → log results</a:t>
            </a:r>
            <a:endParaRPr lang="en-US" sz="1150" dirty="0"/>
          </a:p>
        </p:txBody>
      </p:sp>
      <p:sp>
        <p:nvSpPr>
          <p:cNvPr id="21" name="Shape 19"/>
          <p:cNvSpPr/>
          <p:nvPr/>
        </p:nvSpPr>
        <p:spPr>
          <a:xfrm>
            <a:off x="548640" y="3611880"/>
            <a:ext cx="8046720" cy="1097280"/>
          </a:xfrm>
          <a:prstGeom prst="rect">
            <a:avLst/>
          </a:prstGeom>
          <a:solidFill>
            <a:srgbClr val="EFF6FF"/>
          </a:solidFill>
          <a:ln w="12700">
            <a:solidFill>
              <a:srgbClr val="DBEAFE"/>
            </a:solidFill>
            <a:prstDash val="solid"/>
          </a:ln>
        </p:spPr>
      </p:sp>
      <p:sp>
        <p:nvSpPr>
          <p:cNvPr id="22" name="Text 20"/>
          <p:cNvSpPr/>
          <p:nvPr/>
        </p:nvSpPr>
        <p:spPr>
          <a:xfrm>
            <a:off x="731520" y="3703320"/>
            <a:ext cx="7680960" cy="27432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Why prototyping was needed:</a:t>
            </a:r>
            <a:endParaRPr lang="en-US" sz="1200" dirty="0"/>
          </a:p>
        </p:txBody>
      </p:sp>
      <p:sp>
        <p:nvSpPr>
          <p:cNvPr id="23" name="Text 21"/>
          <p:cNvSpPr/>
          <p:nvPr/>
        </p:nvSpPr>
        <p:spPr>
          <a:xfrm>
            <a:off x="731520" y="4005072"/>
            <a:ext cx="7680960" cy="64008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API limitations, Markdown-to-HTML conversion issues, and WordPress plugin restrictions required multiple test cycles before any production run. Each problem was caught and fixed at the prototype stage.</a:t>
            </a:r>
            <a:endParaRPr lang="en-US" sz="1150" dirty="0"/>
          </a:p>
        </p:txBody>
      </p:sp>
      <p:sp>
        <p:nvSpPr>
          <p:cNvPr id="24" name="Shape 22"/>
          <p:cNvSpPr/>
          <p:nvPr/>
        </p:nvSpPr>
        <p:spPr>
          <a:xfrm>
            <a:off x="0" y="5056632"/>
            <a:ext cx="9144000" cy="91440"/>
          </a:xfrm>
          <a:prstGeom prst="rect">
            <a:avLst/>
          </a:prstGeom>
          <a:solidFill>
            <a:srgbClr val="2563EB"/>
          </a:solidFill>
          <a:ln w="12700">
            <a:solidFill>
              <a:srgbClr val="2563EB"/>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sp>
      <p:sp>
        <p:nvSpPr>
          <p:cNvPr id="3" name="Text 1"/>
          <p:cNvSpPr/>
          <p:nvPr/>
        </p:nvSpPr>
        <p:spPr>
          <a:xfrm>
            <a:off x="548640" y="274320"/>
            <a:ext cx="8046720" cy="640080"/>
          </a:xfrm>
          <a:prstGeom prst="rect">
            <a:avLst/>
          </a:prstGeom>
          <a:noFill/>
          <a:ln/>
        </p:spPr>
        <p:txBody>
          <a:bodyPr wrap="square" lIns="0" tIns="0" rIns="0" bIns="0" rtlCol="0" anchor="ctr"/>
          <a:lstStyle/>
          <a:p>
            <a:pPr indent="0" marL="0">
              <a:buNone/>
            </a:pPr>
            <a:r>
              <a:rPr lang="en-US" sz="3000" b="1" dirty="0">
                <a:solidFill>
                  <a:srgbClr val="1A1A2E"/>
                </a:solidFill>
                <a:latin typeface="Calibri" pitchFamily="34" charset="0"/>
                <a:ea typeface="Calibri" pitchFamily="34" charset="-122"/>
                <a:cs typeface="Calibri" pitchFamily="34" charset="-120"/>
              </a:rPr>
              <a:t>How It Was Applied</a:t>
            </a:r>
            <a:endParaRPr lang="en-US" sz="3000" dirty="0"/>
          </a:p>
        </p:txBody>
      </p:sp>
      <p:sp>
        <p:nvSpPr>
          <p:cNvPr id="4" name="Shape 2"/>
          <p:cNvSpPr/>
          <p:nvPr/>
        </p:nvSpPr>
        <p:spPr>
          <a:xfrm>
            <a:off x="457200" y="1097280"/>
            <a:ext cx="4114800" cy="1737360"/>
          </a:xfrm>
          <a:prstGeom prst="rect">
            <a:avLst/>
          </a:prstGeom>
          <a:solidFill>
            <a:srgbClr val="FFFFFF"/>
          </a:solidFill>
          <a:ln w="19050">
            <a:solidFill>
              <a:srgbClr val="DBEAFE"/>
            </a:solidFill>
            <a:prstDash val="solid"/>
          </a:ln>
        </p:spPr>
      </p:sp>
      <p:sp>
        <p:nvSpPr>
          <p:cNvPr id="5" name="Text 3"/>
          <p:cNvSpPr/>
          <p:nvPr/>
        </p:nvSpPr>
        <p:spPr>
          <a:xfrm>
            <a:off x="594360" y="1207008"/>
            <a:ext cx="59436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207008" y="1234440"/>
            <a:ext cx="320040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Identify Purpose</a:t>
            </a:r>
            <a:endParaRPr lang="en-US" sz="1400" dirty="0"/>
          </a:p>
        </p:txBody>
      </p:sp>
      <p:sp>
        <p:nvSpPr>
          <p:cNvPr id="7" name="Shape 5"/>
          <p:cNvSpPr/>
          <p:nvPr/>
        </p:nvSpPr>
        <p:spPr>
          <a:xfrm>
            <a:off x="594360" y="1691640"/>
            <a:ext cx="3840480" cy="18288"/>
          </a:xfrm>
          <a:prstGeom prst="rect">
            <a:avLst/>
          </a:prstGeom>
          <a:solidFill>
            <a:srgbClr val="DBEAFE"/>
          </a:solidFill>
          <a:ln w="12700">
            <a:solidFill>
              <a:srgbClr val="DBEAFE"/>
            </a:solidFill>
            <a:prstDash val="solid"/>
          </a:ln>
        </p:spPr>
      </p:sp>
      <p:sp>
        <p:nvSpPr>
          <p:cNvPr id="8" name="Text 6"/>
          <p:cNvSpPr/>
          <p:nvPr/>
        </p:nvSpPr>
        <p:spPr>
          <a:xfrm>
            <a:off x="594360" y="1783080"/>
            <a:ext cx="3840480" cy="9601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Validation of each N8N pipeline node before live API calls. Goal: confirm data transformations (e.g., Gemini response parsed correctly into JSON for WordPress).</a:t>
            </a:r>
            <a:endParaRPr lang="en-US" sz="1100" dirty="0"/>
          </a:p>
        </p:txBody>
      </p:sp>
      <p:sp>
        <p:nvSpPr>
          <p:cNvPr id="9" name="Shape 7"/>
          <p:cNvSpPr/>
          <p:nvPr/>
        </p:nvSpPr>
        <p:spPr>
          <a:xfrm>
            <a:off x="4846320" y="1097280"/>
            <a:ext cx="4114800" cy="1737360"/>
          </a:xfrm>
          <a:prstGeom prst="rect">
            <a:avLst/>
          </a:prstGeom>
          <a:solidFill>
            <a:srgbClr val="FFFFFF"/>
          </a:solidFill>
          <a:ln w="19050">
            <a:solidFill>
              <a:srgbClr val="DBEAFE"/>
            </a:solidFill>
            <a:prstDash val="solid"/>
          </a:ln>
        </p:spPr>
      </p:sp>
      <p:sp>
        <p:nvSpPr>
          <p:cNvPr id="10" name="Text 8"/>
          <p:cNvSpPr/>
          <p:nvPr/>
        </p:nvSpPr>
        <p:spPr>
          <a:xfrm>
            <a:off x="4983480" y="1207008"/>
            <a:ext cx="59436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02</a:t>
            </a:r>
            <a:endParaRPr lang="en-US" sz="2200" dirty="0"/>
          </a:p>
        </p:txBody>
      </p:sp>
      <p:sp>
        <p:nvSpPr>
          <p:cNvPr id="11" name="Text 9"/>
          <p:cNvSpPr/>
          <p:nvPr/>
        </p:nvSpPr>
        <p:spPr>
          <a:xfrm>
            <a:off x="5596128" y="1234440"/>
            <a:ext cx="320040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Choose Fidelity</a:t>
            </a:r>
            <a:endParaRPr lang="en-US" sz="1400" dirty="0"/>
          </a:p>
        </p:txBody>
      </p:sp>
      <p:sp>
        <p:nvSpPr>
          <p:cNvPr id="12" name="Shape 10"/>
          <p:cNvSpPr/>
          <p:nvPr/>
        </p:nvSpPr>
        <p:spPr>
          <a:xfrm>
            <a:off x="4983480" y="1691640"/>
            <a:ext cx="3840480" cy="18288"/>
          </a:xfrm>
          <a:prstGeom prst="rect">
            <a:avLst/>
          </a:prstGeom>
          <a:solidFill>
            <a:srgbClr val="DBEAFE"/>
          </a:solidFill>
          <a:ln w="12700">
            <a:solidFill>
              <a:srgbClr val="DBEAFE"/>
            </a:solidFill>
            <a:prstDash val="solid"/>
          </a:ln>
        </p:spPr>
      </p:sp>
      <p:sp>
        <p:nvSpPr>
          <p:cNvPr id="13" name="Text 11"/>
          <p:cNvSpPr/>
          <p:nvPr/>
        </p:nvSpPr>
        <p:spPr>
          <a:xfrm>
            <a:off x="4983480" y="1783080"/>
            <a:ext cx="3840480" cy="9601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Started with paper sketches (low), moved to N8N dummy-data test runs (mid), then full live integration (high) only after each node passed in isolation.</a:t>
            </a:r>
            <a:endParaRPr lang="en-US" sz="1100" dirty="0"/>
          </a:p>
        </p:txBody>
      </p:sp>
      <p:sp>
        <p:nvSpPr>
          <p:cNvPr id="14" name="Shape 12"/>
          <p:cNvSpPr/>
          <p:nvPr/>
        </p:nvSpPr>
        <p:spPr>
          <a:xfrm>
            <a:off x="457200" y="3017520"/>
            <a:ext cx="4114800" cy="1737360"/>
          </a:xfrm>
          <a:prstGeom prst="rect">
            <a:avLst/>
          </a:prstGeom>
          <a:solidFill>
            <a:srgbClr val="FFFFFF"/>
          </a:solidFill>
          <a:ln w="19050">
            <a:solidFill>
              <a:srgbClr val="DBEAFE"/>
            </a:solidFill>
            <a:prstDash val="solid"/>
          </a:ln>
        </p:spPr>
      </p:sp>
      <p:sp>
        <p:nvSpPr>
          <p:cNvPr id="15" name="Text 13"/>
          <p:cNvSpPr/>
          <p:nvPr/>
        </p:nvSpPr>
        <p:spPr>
          <a:xfrm>
            <a:off x="594360" y="3127248"/>
            <a:ext cx="59436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03</a:t>
            </a:r>
            <a:endParaRPr lang="en-US" sz="2200" dirty="0"/>
          </a:p>
        </p:txBody>
      </p:sp>
      <p:sp>
        <p:nvSpPr>
          <p:cNvPr id="16" name="Text 14"/>
          <p:cNvSpPr/>
          <p:nvPr/>
        </p:nvSpPr>
        <p:spPr>
          <a:xfrm>
            <a:off x="1207008" y="3154680"/>
            <a:ext cx="320040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Prototype Key Tasks</a:t>
            </a:r>
            <a:endParaRPr lang="en-US" sz="1400" dirty="0"/>
          </a:p>
        </p:txBody>
      </p:sp>
      <p:sp>
        <p:nvSpPr>
          <p:cNvPr id="17" name="Shape 15"/>
          <p:cNvSpPr/>
          <p:nvPr/>
        </p:nvSpPr>
        <p:spPr>
          <a:xfrm>
            <a:off x="594360" y="3611880"/>
            <a:ext cx="3840480" cy="18288"/>
          </a:xfrm>
          <a:prstGeom prst="rect">
            <a:avLst/>
          </a:prstGeom>
          <a:solidFill>
            <a:srgbClr val="DBEAFE"/>
          </a:solidFill>
          <a:ln w="12700">
            <a:solidFill>
              <a:srgbClr val="DBEAFE"/>
            </a:solidFill>
            <a:prstDash val="solid"/>
          </a:ln>
        </p:spPr>
      </p:sp>
      <p:sp>
        <p:nvSpPr>
          <p:cNvPr id="18" name="Text 16"/>
          <p:cNvSpPr/>
          <p:nvPr/>
        </p:nvSpPr>
        <p:spPr>
          <a:xfrm>
            <a:off x="594360" y="3703320"/>
            <a:ext cx="3840480" cy="9601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Focused on highest-risk tasks only: Gemini prompt engineering, Markdown→HTML conversion, WordPress API auth. Did NOT prototype the entire system at once.</a:t>
            </a:r>
            <a:endParaRPr lang="en-US" sz="1100" dirty="0"/>
          </a:p>
        </p:txBody>
      </p:sp>
      <p:sp>
        <p:nvSpPr>
          <p:cNvPr id="19" name="Shape 17"/>
          <p:cNvSpPr/>
          <p:nvPr/>
        </p:nvSpPr>
        <p:spPr>
          <a:xfrm>
            <a:off x="4846320" y="3017520"/>
            <a:ext cx="4114800" cy="1737360"/>
          </a:xfrm>
          <a:prstGeom prst="rect">
            <a:avLst/>
          </a:prstGeom>
          <a:solidFill>
            <a:srgbClr val="FFFFFF"/>
          </a:solidFill>
          <a:ln w="19050">
            <a:solidFill>
              <a:srgbClr val="DBEAFE"/>
            </a:solidFill>
            <a:prstDash val="solid"/>
          </a:ln>
        </p:spPr>
      </p:sp>
      <p:sp>
        <p:nvSpPr>
          <p:cNvPr id="20" name="Text 18"/>
          <p:cNvSpPr/>
          <p:nvPr/>
        </p:nvSpPr>
        <p:spPr>
          <a:xfrm>
            <a:off x="4983480" y="3127248"/>
            <a:ext cx="594360" cy="457200"/>
          </a:xfrm>
          <a:prstGeom prst="rect">
            <a:avLst/>
          </a:prstGeom>
          <a:noFill/>
          <a:ln/>
        </p:spPr>
        <p:txBody>
          <a:bodyPr wrap="square" lIns="0" tIns="0" rIns="0" bIns="0" rtlCol="0" anchor="ctr"/>
          <a:lstStyle/>
          <a:p>
            <a:pPr indent="0" marL="0">
              <a:buNone/>
            </a:pPr>
            <a:r>
              <a:rPr lang="en-US" sz="2200" b="1" dirty="0">
                <a:solidFill>
                  <a:srgbClr val="2563EB"/>
                </a:solidFill>
                <a:latin typeface="Calibri" pitchFamily="34" charset="0"/>
                <a:ea typeface="Calibri" pitchFamily="34" charset="-122"/>
                <a:cs typeface="Calibri" pitchFamily="34" charset="-120"/>
              </a:rPr>
              <a:t>04</a:t>
            </a:r>
            <a:endParaRPr lang="en-US" sz="2200" dirty="0"/>
          </a:p>
        </p:txBody>
      </p:sp>
      <p:sp>
        <p:nvSpPr>
          <p:cNvPr id="21" name="Text 19"/>
          <p:cNvSpPr/>
          <p:nvPr/>
        </p:nvSpPr>
        <p:spPr>
          <a:xfrm>
            <a:off x="5596128" y="3154680"/>
            <a:ext cx="320040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Test &amp; Observe</a:t>
            </a:r>
            <a:endParaRPr lang="en-US" sz="1400" dirty="0"/>
          </a:p>
        </p:txBody>
      </p:sp>
      <p:sp>
        <p:nvSpPr>
          <p:cNvPr id="22" name="Shape 20"/>
          <p:cNvSpPr/>
          <p:nvPr/>
        </p:nvSpPr>
        <p:spPr>
          <a:xfrm>
            <a:off x="4983480" y="3611880"/>
            <a:ext cx="3840480" cy="18288"/>
          </a:xfrm>
          <a:prstGeom prst="rect">
            <a:avLst/>
          </a:prstGeom>
          <a:solidFill>
            <a:srgbClr val="DBEAFE"/>
          </a:solidFill>
          <a:ln w="12700">
            <a:solidFill>
              <a:srgbClr val="DBEAFE"/>
            </a:solidFill>
            <a:prstDash val="solid"/>
          </a:ln>
        </p:spPr>
      </p:sp>
      <p:sp>
        <p:nvSpPr>
          <p:cNvPr id="23" name="Text 21"/>
          <p:cNvSpPr/>
          <p:nvPr/>
        </p:nvSpPr>
        <p:spPr>
          <a:xfrm>
            <a:off x="4983480" y="3703320"/>
            <a:ext cx="3840480" cy="9601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Ran each node with test inputs. Checked: Did Gemini return valid JSON? Did HTML render properly? Did WordPress publish with correct metadata? Documented every failure.</a:t>
            </a:r>
            <a:endParaRPr lang="en-US" sz="1100" dirty="0"/>
          </a:p>
        </p:txBody>
      </p:sp>
      <p:sp>
        <p:nvSpPr>
          <p:cNvPr id="24" name="Shape 22"/>
          <p:cNvSpPr/>
          <p:nvPr/>
        </p:nvSpPr>
        <p:spPr>
          <a:xfrm>
            <a:off x="0" y="5056632"/>
            <a:ext cx="9144000" cy="91440"/>
          </a:xfrm>
          <a:prstGeom prst="rect">
            <a:avLst/>
          </a:prstGeom>
          <a:solidFill>
            <a:srgbClr val="2563EB"/>
          </a:solidFill>
          <a:ln w="12700">
            <a:solidFill>
              <a:srgbClr val="2563EB"/>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sp>
      <p:sp>
        <p:nvSpPr>
          <p:cNvPr id="3" name="Text 1"/>
          <p:cNvSpPr/>
          <p:nvPr/>
        </p:nvSpPr>
        <p:spPr>
          <a:xfrm>
            <a:off x="548640" y="274320"/>
            <a:ext cx="8046720" cy="640080"/>
          </a:xfrm>
          <a:prstGeom prst="rect">
            <a:avLst/>
          </a:prstGeom>
          <a:noFill/>
          <a:ln/>
        </p:spPr>
        <p:txBody>
          <a:bodyPr wrap="square" lIns="0" tIns="0" rIns="0" bIns="0" rtlCol="0" anchor="ctr"/>
          <a:lstStyle/>
          <a:p>
            <a:pPr indent="0" marL="0">
              <a:buNone/>
            </a:pPr>
            <a:r>
              <a:rPr lang="en-US" sz="3000" b="1" dirty="0">
                <a:solidFill>
                  <a:srgbClr val="1A1A2E"/>
                </a:solidFill>
                <a:latin typeface="Calibri" pitchFamily="34" charset="0"/>
                <a:ea typeface="Calibri" pitchFamily="34" charset="-122"/>
                <a:cs typeface="Calibri" pitchFamily="34" charset="-120"/>
              </a:rPr>
              <a:t>Testing, Findings &amp; Iteration</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3566160"/>
        </p:xfrm>
        <a:graphic>
          <a:graphicData uri="http://schemas.openxmlformats.org/drawingml/2006/table">
            <a:tbl>
              <a:tblPr/>
              <a:tblGrid>
                <a:gridCol w="2834640"/>
                <a:gridCol w="1645920"/>
                <a:gridCol w="3749040"/>
              </a:tblGrid>
              <a:tr h="54864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Issue Found</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A2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A2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Fix Applied</a:t>
                      </a:r>
                      <a:endParaRPr lang="en-US" sz="12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A2E"/>
                    </a:solidFill>
                  </a:tcPr>
                </a:tc>
              </a:tr>
              <a:tr h="548640">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API rate limits (Gemini free tier)</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Mid-fidelity</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Switched to paid API key from Kimberton AI Studio</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Markdown not rendering in WordPress</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High-fidelity</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Added Markdown-to-HTML conversion step in N8N</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WordPress plugin blocking REST API</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High-fidelity</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Adjusted plugin permissions, re-tested auth</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RankMath SEO fields not mapping</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High-fidelity</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Corrected field names in API payload</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Duplicate articles being generated</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Mid-fidelity</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Added SHA256 hash deduplication to workflow</a:t>
                      </a:r>
                      <a:endParaRPr lang="en-US" sz="115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4754880"/>
            <a:ext cx="8229600" cy="292608"/>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All 5 issues were caught during prototype testing — before any production run.</a:t>
            </a:r>
            <a:endParaRPr lang="en-US" sz="1200" dirty="0"/>
          </a:p>
        </p:txBody>
      </p:sp>
      <p:sp>
        <p:nvSpPr>
          <p:cNvPr id="6" name="Shape 3"/>
          <p:cNvSpPr/>
          <p:nvPr/>
        </p:nvSpPr>
        <p:spPr>
          <a:xfrm>
            <a:off x="0" y="5056632"/>
            <a:ext cx="9144000" cy="91440"/>
          </a:xfrm>
          <a:prstGeom prst="rect">
            <a:avLst/>
          </a:prstGeom>
          <a:solidFill>
            <a:srgbClr val="2563EB"/>
          </a:solidFill>
          <a:ln w="12700">
            <a:solidFill>
              <a:srgbClr val="2563EB"/>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sp>
      <p:sp>
        <p:nvSpPr>
          <p:cNvPr id="3" name="Text 1"/>
          <p:cNvSpPr/>
          <p:nvPr/>
        </p:nvSpPr>
        <p:spPr>
          <a:xfrm>
            <a:off x="548640" y="274320"/>
            <a:ext cx="8046720" cy="640080"/>
          </a:xfrm>
          <a:prstGeom prst="rect">
            <a:avLst/>
          </a:prstGeom>
          <a:noFill/>
          <a:ln/>
        </p:spPr>
        <p:txBody>
          <a:bodyPr wrap="square" lIns="0" tIns="0" rIns="0" bIns="0" rtlCol="0" anchor="ctr"/>
          <a:lstStyle/>
          <a:p>
            <a:pPr indent="0" marL="0">
              <a:buNone/>
            </a:pPr>
            <a:r>
              <a:rPr lang="en-US" sz="3000" b="1" dirty="0">
                <a:solidFill>
                  <a:srgbClr val="1A1A2E"/>
                </a:solidFill>
                <a:latin typeface="Calibri" pitchFamily="34" charset="0"/>
                <a:ea typeface="Calibri" pitchFamily="34" charset="-122"/>
                <a:cs typeface="Calibri" pitchFamily="34" charset="-120"/>
              </a:rPr>
              <a:t>Key Learnings</a:t>
            </a:r>
            <a:endParaRPr lang="en-US" sz="3000" dirty="0"/>
          </a:p>
        </p:txBody>
      </p:sp>
      <p:sp>
        <p:nvSpPr>
          <p:cNvPr id="4" name="Shape 2"/>
          <p:cNvSpPr/>
          <p:nvPr/>
        </p:nvSpPr>
        <p:spPr>
          <a:xfrm>
            <a:off x="457200" y="1078992"/>
            <a:ext cx="8229600" cy="804672"/>
          </a:xfrm>
          <a:prstGeom prst="rect">
            <a:avLst/>
          </a:prstGeom>
          <a:solidFill>
            <a:srgbClr val="EFF6FF"/>
          </a:solidFill>
          <a:ln w="12700">
            <a:solidFill>
              <a:srgbClr val="DBEAFE"/>
            </a:solidFill>
            <a:prstDash val="solid"/>
          </a:ln>
        </p:spPr>
      </p:sp>
      <p:sp>
        <p:nvSpPr>
          <p:cNvPr id="5" name="Shape 3"/>
          <p:cNvSpPr/>
          <p:nvPr/>
        </p:nvSpPr>
        <p:spPr>
          <a:xfrm>
            <a:off x="457200" y="1078992"/>
            <a:ext cx="64008" cy="804672"/>
          </a:xfrm>
          <a:prstGeom prst="rect">
            <a:avLst/>
          </a:prstGeom>
          <a:solidFill>
            <a:srgbClr val="2563EB"/>
          </a:solidFill>
          <a:ln w="12700">
            <a:solidFill>
              <a:srgbClr val="2563EB"/>
            </a:solidFill>
            <a:prstDash val="solid"/>
          </a:ln>
        </p:spPr>
      </p:sp>
      <p:sp>
        <p:nvSpPr>
          <p:cNvPr id="6" name="Text 4"/>
          <p:cNvSpPr/>
          <p:nvPr/>
        </p:nvSpPr>
        <p:spPr>
          <a:xfrm>
            <a:off x="658368" y="1170432"/>
            <a:ext cx="1828800" cy="329184"/>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Practical SEO</a:t>
            </a:r>
            <a:endParaRPr lang="en-US" sz="1300" dirty="0"/>
          </a:p>
        </p:txBody>
      </p:sp>
      <p:sp>
        <p:nvSpPr>
          <p:cNvPr id="7" name="Text 5"/>
          <p:cNvSpPr/>
          <p:nvPr/>
        </p:nvSpPr>
        <p:spPr>
          <a:xfrm>
            <a:off x="2560320" y="1170432"/>
            <a:ext cx="6035040" cy="621792"/>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Building and testing the pipeline gave real insight into keyword selection, article structure, and metadata — not just theory.</a:t>
            </a:r>
            <a:endParaRPr lang="en-US" sz="1200" dirty="0"/>
          </a:p>
        </p:txBody>
      </p:sp>
      <p:sp>
        <p:nvSpPr>
          <p:cNvPr id="8" name="Shape 6"/>
          <p:cNvSpPr/>
          <p:nvPr/>
        </p:nvSpPr>
        <p:spPr>
          <a:xfrm>
            <a:off x="457200" y="2011680"/>
            <a:ext cx="8229600" cy="804672"/>
          </a:xfrm>
          <a:prstGeom prst="rect">
            <a:avLst/>
          </a:prstGeom>
          <a:solidFill>
            <a:srgbClr val="FFFFFF"/>
          </a:solidFill>
          <a:ln w="12700">
            <a:solidFill>
              <a:srgbClr val="DBEAFE"/>
            </a:solidFill>
            <a:prstDash val="solid"/>
          </a:ln>
        </p:spPr>
      </p:sp>
      <p:sp>
        <p:nvSpPr>
          <p:cNvPr id="9" name="Shape 7"/>
          <p:cNvSpPr/>
          <p:nvPr/>
        </p:nvSpPr>
        <p:spPr>
          <a:xfrm>
            <a:off x="457200" y="2011680"/>
            <a:ext cx="64008" cy="804672"/>
          </a:xfrm>
          <a:prstGeom prst="rect">
            <a:avLst/>
          </a:prstGeom>
          <a:solidFill>
            <a:srgbClr val="2563EB"/>
          </a:solidFill>
          <a:ln w="12700">
            <a:solidFill>
              <a:srgbClr val="2563EB"/>
            </a:solidFill>
            <a:prstDash val="solid"/>
          </a:ln>
        </p:spPr>
      </p:sp>
      <p:sp>
        <p:nvSpPr>
          <p:cNvPr id="10" name="Text 8"/>
          <p:cNvSpPr/>
          <p:nvPr/>
        </p:nvSpPr>
        <p:spPr>
          <a:xfrm>
            <a:off x="658368" y="2103120"/>
            <a:ext cx="1828800" cy="329184"/>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API Limitations</a:t>
            </a:r>
            <a:endParaRPr lang="en-US" sz="1300" dirty="0"/>
          </a:p>
        </p:txBody>
      </p:sp>
      <p:sp>
        <p:nvSpPr>
          <p:cNvPr id="11" name="Text 9"/>
          <p:cNvSpPr/>
          <p:nvPr/>
        </p:nvSpPr>
        <p:spPr>
          <a:xfrm>
            <a:off x="2560320" y="2103120"/>
            <a:ext cx="6035040" cy="621792"/>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Prototype failures revealed the gap between free and paid tiers early, leading to a clean fix before scheduled workflows were affected.</a:t>
            </a:r>
            <a:endParaRPr lang="en-US" sz="1200" dirty="0"/>
          </a:p>
        </p:txBody>
      </p:sp>
      <p:sp>
        <p:nvSpPr>
          <p:cNvPr id="12" name="Shape 10"/>
          <p:cNvSpPr/>
          <p:nvPr/>
        </p:nvSpPr>
        <p:spPr>
          <a:xfrm>
            <a:off x="457200" y="2944368"/>
            <a:ext cx="8229600" cy="804672"/>
          </a:xfrm>
          <a:prstGeom prst="rect">
            <a:avLst/>
          </a:prstGeom>
          <a:solidFill>
            <a:srgbClr val="EFF6FF"/>
          </a:solidFill>
          <a:ln w="12700">
            <a:solidFill>
              <a:srgbClr val="DBEAFE"/>
            </a:solidFill>
            <a:prstDash val="solid"/>
          </a:ln>
        </p:spPr>
      </p:sp>
      <p:sp>
        <p:nvSpPr>
          <p:cNvPr id="13" name="Shape 11"/>
          <p:cNvSpPr/>
          <p:nvPr/>
        </p:nvSpPr>
        <p:spPr>
          <a:xfrm>
            <a:off x="457200" y="2944368"/>
            <a:ext cx="64008" cy="804672"/>
          </a:xfrm>
          <a:prstGeom prst="rect">
            <a:avLst/>
          </a:prstGeom>
          <a:solidFill>
            <a:srgbClr val="2563EB"/>
          </a:solidFill>
          <a:ln w="12700">
            <a:solidFill>
              <a:srgbClr val="2563EB"/>
            </a:solidFill>
            <a:prstDash val="solid"/>
          </a:ln>
        </p:spPr>
      </p:sp>
      <p:sp>
        <p:nvSpPr>
          <p:cNvPr id="14" name="Text 12"/>
          <p:cNvSpPr/>
          <p:nvPr/>
        </p:nvSpPr>
        <p:spPr>
          <a:xfrm>
            <a:off x="658368" y="3035808"/>
            <a:ext cx="1828800" cy="329184"/>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Content Conversion</a:t>
            </a:r>
            <a:endParaRPr lang="en-US" sz="1300" dirty="0"/>
          </a:p>
        </p:txBody>
      </p:sp>
      <p:sp>
        <p:nvSpPr>
          <p:cNvPr id="15" name="Text 13"/>
          <p:cNvSpPr/>
          <p:nvPr/>
        </p:nvSpPr>
        <p:spPr>
          <a:xfrm>
            <a:off x="2560320" y="3035808"/>
            <a:ext cx="6035040" cy="621792"/>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Testing exposed the Markdown-to-HTML problem before going live, allowing it to be added cleanly into the workflow.</a:t>
            </a:r>
            <a:endParaRPr lang="en-US" sz="1200" dirty="0"/>
          </a:p>
        </p:txBody>
      </p:sp>
      <p:sp>
        <p:nvSpPr>
          <p:cNvPr id="16" name="Shape 14"/>
          <p:cNvSpPr/>
          <p:nvPr/>
        </p:nvSpPr>
        <p:spPr>
          <a:xfrm>
            <a:off x="457200" y="3877056"/>
            <a:ext cx="8229600" cy="804672"/>
          </a:xfrm>
          <a:prstGeom prst="rect">
            <a:avLst/>
          </a:prstGeom>
          <a:solidFill>
            <a:srgbClr val="FFFFFF"/>
          </a:solidFill>
          <a:ln w="12700">
            <a:solidFill>
              <a:srgbClr val="DBEAFE"/>
            </a:solidFill>
            <a:prstDash val="solid"/>
          </a:ln>
        </p:spPr>
      </p:sp>
      <p:sp>
        <p:nvSpPr>
          <p:cNvPr id="17" name="Shape 15"/>
          <p:cNvSpPr/>
          <p:nvPr/>
        </p:nvSpPr>
        <p:spPr>
          <a:xfrm>
            <a:off x="457200" y="3877056"/>
            <a:ext cx="64008" cy="804672"/>
          </a:xfrm>
          <a:prstGeom prst="rect">
            <a:avLst/>
          </a:prstGeom>
          <a:solidFill>
            <a:srgbClr val="2563EB"/>
          </a:solidFill>
          <a:ln w="12700">
            <a:solidFill>
              <a:srgbClr val="2563EB"/>
            </a:solidFill>
            <a:prstDash val="solid"/>
          </a:ln>
        </p:spPr>
      </p:sp>
      <p:sp>
        <p:nvSpPr>
          <p:cNvPr id="18" name="Text 16"/>
          <p:cNvSpPr/>
          <p:nvPr/>
        </p:nvSpPr>
        <p:spPr>
          <a:xfrm>
            <a:off x="658368" y="3968496"/>
            <a:ext cx="1828800" cy="329184"/>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Modular Thinking</a:t>
            </a:r>
            <a:endParaRPr lang="en-US" sz="1300" dirty="0"/>
          </a:p>
        </p:txBody>
      </p:sp>
      <p:sp>
        <p:nvSpPr>
          <p:cNvPr id="19" name="Text 17"/>
          <p:cNvSpPr/>
          <p:nvPr/>
        </p:nvSpPr>
        <p:spPr>
          <a:xfrm>
            <a:off x="2560320" y="3968496"/>
            <a:ext cx="6035040" cy="621792"/>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Testing each node independently before connecting them built a habit of test small, integrate gradually, verify at every step.</a:t>
            </a:r>
            <a:endParaRPr lang="en-US" sz="1200" dirty="0"/>
          </a:p>
        </p:txBody>
      </p:sp>
      <p:sp>
        <p:nvSpPr>
          <p:cNvPr id="20" name="Shape 18"/>
          <p:cNvSpPr/>
          <p:nvPr/>
        </p:nvSpPr>
        <p:spPr>
          <a:xfrm>
            <a:off x="0" y="5056632"/>
            <a:ext cx="9144000" cy="91440"/>
          </a:xfrm>
          <a:prstGeom prst="rect">
            <a:avLst/>
          </a:prstGeom>
          <a:solidFill>
            <a:srgbClr val="2563EB"/>
          </a:solidFill>
          <a:ln w="12700">
            <a:solidFill>
              <a:srgbClr val="2563EB"/>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563EB"/>
          </a:solidFill>
          <a:ln w="12700">
            <a:solidFill>
              <a:srgbClr val="2563EB"/>
            </a:solidFill>
            <a:prstDash val="solid"/>
          </a:ln>
        </p:spPr>
      </p:sp>
      <p:sp>
        <p:nvSpPr>
          <p:cNvPr id="3" name="Text 1"/>
          <p:cNvSpPr/>
          <p:nvPr/>
        </p:nvSpPr>
        <p:spPr>
          <a:xfrm>
            <a:off x="640080" y="45720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Summary</a:t>
            </a:r>
            <a:endParaRPr lang="en-US" sz="4000" dirty="0"/>
          </a:p>
        </p:txBody>
      </p:sp>
      <p:sp>
        <p:nvSpPr>
          <p:cNvPr id="4" name="Shape 2"/>
          <p:cNvSpPr/>
          <p:nvPr/>
        </p:nvSpPr>
        <p:spPr>
          <a:xfrm>
            <a:off x="640080" y="1371600"/>
            <a:ext cx="1371600" cy="54864"/>
          </a:xfrm>
          <a:prstGeom prst="rect">
            <a:avLst/>
          </a:prstGeom>
          <a:solidFill>
            <a:srgbClr val="2563EB"/>
          </a:solidFill>
          <a:ln w="12700">
            <a:solidFill>
              <a:srgbClr val="2563EB"/>
            </a:solidFill>
            <a:prstDash val="solid"/>
          </a:ln>
        </p:spPr>
      </p:sp>
      <p:sp>
        <p:nvSpPr>
          <p:cNvPr id="5" name="Text 3"/>
          <p:cNvSpPr/>
          <p:nvPr/>
        </p:nvSpPr>
        <p:spPr>
          <a:xfrm>
            <a:off x="640080" y="1572768"/>
            <a:ext cx="365760" cy="457200"/>
          </a:xfrm>
          <a:prstGeom prst="rect">
            <a:avLst/>
          </a:prstGeom>
          <a:noFill/>
          <a:ln/>
        </p:spPr>
        <p:txBody>
          <a:bodyPr wrap="square" lIns="0" tIns="0" rIns="0" bIns="0" rtlCol="0" anchor="ctr"/>
          <a:lstStyle/>
          <a:p>
            <a:pPr indent="0" marL="0">
              <a:buNone/>
            </a:pPr>
            <a:r>
              <a:rPr lang="en-US" sz="1600" b="1" dirty="0">
                <a:solidFill>
                  <a:srgbClr val="2563EB"/>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097280" y="1591056"/>
            <a:ext cx="7498080" cy="475488"/>
          </a:xfrm>
          <a:prstGeom prst="rect">
            <a:avLst/>
          </a:prstGeom>
          <a:noFill/>
          <a:ln/>
        </p:spPr>
        <p:txBody>
          <a:bodyPr wrap="square" rtlCol="0" anchor="ctr"/>
          <a:lstStyle/>
          <a:p>
            <a:pPr indent="0" marL="0">
              <a:buNone/>
            </a:pPr>
            <a:r>
              <a:rPr lang="en-US" sz="1300" dirty="0">
                <a:solidFill>
                  <a:srgbClr val="D1D5DB"/>
                </a:solidFill>
                <a:latin typeface="Calibri" pitchFamily="34" charset="0"/>
                <a:ea typeface="Calibri" pitchFamily="34" charset="-122"/>
                <a:cs typeface="Calibri" pitchFamily="34" charset="-120"/>
              </a:rPr>
              <a:t>Prototyping was applied iteratively — from paper sketch to a fully live N8N pipeline.</a:t>
            </a:r>
            <a:endParaRPr lang="en-US" sz="1300" dirty="0"/>
          </a:p>
        </p:txBody>
      </p:sp>
      <p:sp>
        <p:nvSpPr>
          <p:cNvPr id="7" name="Text 5"/>
          <p:cNvSpPr/>
          <p:nvPr/>
        </p:nvSpPr>
        <p:spPr>
          <a:xfrm>
            <a:off x="640080" y="2221992"/>
            <a:ext cx="365760" cy="457200"/>
          </a:xfrm>
          <a:prstGeom prst="rect">
            <a:avLst/>
          </a:prstGeom>
          <a:noFill/>
          <a:ln/>
        </p:spPr>
        <p:txBody>
          <a:bodyPr wrap="square" lIns="0" tIns="0" rIns="0" bIns="0" rtlCol="0" anchor="ctr"/>
          <a:lstStyle/>
          <a:p>
            <a:pPr indent="0" marL="0">
              <a:buNone/>
            </a:pPr>
            <a:r>
              <a:rPr lang="en-US" sz="1600" b="1" dirty="0">
                <a:solidFill>
                  <a:srgbClr val="2563EB"/>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097280" y="2240280"/>
            <a:ext cx="7498080" cy="475488"/>
          </a:xfrm>
          <a:prstGeom prst="rect">
            <a:avLst/>
          </a:prstGeom>
          <a:noFill/>
          <a:ln/>
        </p:spPr>
        <p:txBody>
          <a:bodyPr wrap="square" rtlCol="0" anchor="ctr"/>
          <a:lstStyle/>
          <a:p>
            <a:pPr indent="0" marL="0">
              <a:buNone/>
            </a:pPr>
            <a:r>
              <a:rPr lang="en-US" sz="1300" dirty="0">
                <a:solidFill>
                  <a:srgbClr val="D1D5DB"/>
                </a:solidFill>
                <a:latin typeface="Calibri" pitchFamily="34" charset="0"/>
                <a:ea typeface="Calibri" pitchFamily="34" charset="-122"/>
                <a:cs typeface="Calibri" pitchFamily="34" charset="-120"/>
              </a:rPr>
              <a:t>Fidelity increased step by step: concept → partial workflow → full live integration.</a:t>
            </a:r>
            <a:endParaRPr lang="en-US" sz="1300" dirty="0"/>
          </a:p>
        </p:txBody>
      </p:sp>
      <p:sp>
        <p:nvSpPr>
          <p:cNvPr id="9" name="Text 7"/>
          <p:cNvSpPr/>
          <p:nvPr/>
        </p:nvSpPr>
        <p:spPr>
          <a:xfrm>
            <a:off x="640080" y="2871216"/>
            <a:ext cx="365760" cy="457200"/>
          </a:xfrm>
          <a:prstGeom prst="rect">
            <a:avLst/>
          </a:prstGeom>
          <a:noFill/>
          <a:ln/>
        </p:spPr>
        <p:txBody>
          <a:bodyPr wrap="square" lIns="0" tIns="0" rIns="0" bIns="0" rtlCol="0" anchor="ctr"/>
          <a:lstStyle/>
          <a:p>
            <a:pPr indent="0" marL="0">
              <a:buNone/>
            </a:pPr>
            <a:r>
              <a:rPr lang="en-US" sz="1600" b="1" dirty="0">
                <a:solidFill>
                  <a:srgbClr val="2563EB"/>
                </a:solidFill>
                <a:latin typeface="Calibri" pitchFamily="34" charset="0"/>
                <a:ea typeface="Calibri" pitchFamily="34" charset="-122"/>
                <a:cs typeface="Calibri" pitchFamily="34" charset="-120"/>
              </a:rPr>
              <a:t>3.</a:t>
            </a:r>
            <a:endParaRPr lang="en-US" sz="1600" dirty="0"/>
          </a:p>
        </p:txBody>
      </p:sp>
      <p:sp>
        <p:nvSpPr>
          <p:cNvPr id="10" name="Text 8"/>
          <p:cNvSpPr/>
          <p:nvPr/>
        </p:nvSpPr>
        <p:spPr>
          <a:xfrm>
            <a:off x="1097280" y="2889504"/>
            <a:ext cx="7498080" cy="475488"/>
          </a:xfrm>
          <a:prstGeom prst="rect">
            <a:avLst/>
          </a:prstGeom>
          <a:noFill/>
          <a:ln/>
        </p:spPr>
        <p:txBody>
          <a:bodyPr wrap="square" rtlCol="0" anchor="ctr"/>
          <a:lstStyle/>
          <a:p>
            <a:pPr indent="0" marL="0">
              <a:buNone/>
            </a:pPr>
            <a:r>
              <a:rPr lang="en-US" sz="1300" dirty="0">
                <a:solidFill>
                  <a:srgbClr val="D1D5DB"/>
                </a:solidFill>
                <a:latin typeface="Calibri" pitchFamily="34" charset="0"/>
                <a:ea typeface="Calibri" pitchFamily="34" charset="-122"/>
                <a:cs typeface="Calibri" pitchFamily="34" charset="-120"/>
              </a:rPr>
              <a:t>5 real issues were caught and fixed during prototype testing before production.</a:t>
            </a:r>
            <a:endParaRPr lang="en-US" sz="1300" dirty="0"/>
          </a:p>
        </p:txBody>
      </p:sp>
      <p:sp>
        <p:nvSpPr>
          <p:cNvPr id="11" name="Text 9"/>
          <p:cNvSpPr/>
          <p:nvPr/>
        </p:nvSpPr>
        <p:spPr>
          <a:xfrm>
            <a:off x="640080" y="3520440"/>
            <a:ext cx="365760" cy="457200"/>
          </a:xfrm>
          <a:prstGeom prst="rect">
            <a:avLst/>
          </a:prstGeom>
          <a:noFill/>
          <a:ln/>
        </p:spPr>
        <p:txBody>
          <a:bodyPr wrap="square" lIns="0" tIns="0" rIns="0" bIns="0" rtlCol="0" anchor="ctr"/>
          <a:lstStyle/>
          <a:p>
            <a:pPr indent="0" marL="0">
              <a:buNone/>
            </a:pPr>
            <a:r>
              <a:rPr lang="en-US" sz="1600" b="1" dirty="0">
                <a:solidFill>
                  <a:srgbClr val="2563EB"/>
                </a:solidFill>
                <a:latin typeface="Calibri" pitchFamily="34" charset="0"/>
                <a:ea typeface="Calibri" pitchFamily="34" charset="-122"/>
                <a:cs typeface="Calibri" pitchFamily="34" charset="-120"/>
              </a:rPr>
              <a:t>4.</a:t>
            </a:r>
            <a:endParaRPr lang="en-US" sz="1600" dirty="0"/>
          </a:p>
        </p:txBody>
      </p:sp>
      <p:sp>
        <p:nvSpPr>
          <p:cNvPr id="12" name="Text 10"/>
          <p:cNvSpPr/>
          <p:nvPr/>
        </p:nvSpPr>
        <p:spPr>
          <a:xfrm>
            <a:off x="1097280" y="3538728"/>
            <a:ext cx="7498080" cy="475488"/>
          </a:xfrm>
          <a:prstGeom prst="rect">
            <a:avLst/>
          </a:prstGeom>
          <a:noFill/>
          <a:ln/>
        </p:spPr>
        <p:txBody>
          <a:bodyPr wrap="square" rtlCol="0" anchor="ctr"/>
          <a:lstStyle/>
          <a:p>
            <a:pPr indent="0" marL="0">
              <a:buNone/>
            </a:pPr>
            <a:r>
              <a:rPr lang="en-US" sz="1300" dirty="0">
                <a:solidFill>
                  <a:srgbClr val="D1D5DB"/>
                </a:solidFill>
                <a:latin typeface="Calibri" pitchFamily="34" charset="0"/>
                <a:ea typeface="Calibri" pitchFamily="34" charset="-122"/>
                <a:cs typeface="Calibri" pitchFamily="34" charset="-120"/>
              </a:rPr>
              <a:t>Testing early (API limits, content formats, plugin configs) saved significant rework time.</a:t>
            </a:r>
            <a:endParaRPr lang="en-US" sz="1300" dirty="0"/>
          </a:p>
        </p:txBody>
      </p:sp>
      <p:sp>
        <p:nvSpPr>
          <p:cNvPr id="13" name="Text 11"/>
          <p:cNvSpPr/>
          <p:nvPr/>
        </p:nvSpPr>
        <p:spPr>
          <a:xfrm>
            <a:off x="640080" y="4169664"/>
            <a:ext cx="365760" cy="457200"/>
          </a:xfrm>
          <a:prstGeom prst="rect">
            <a:avLst/>
          </a:prstGeom>
          <a:noFill/>
          <a:ln/>
        </p:spPr>
        <p:txBody>
          <a:bodyPr wrap="square" lIns="0" tIns="0" rIns="0" bIns="0" rtlCol="0" anchor="ctr"/>
          <a:lstStyle/>
          <a:p>
            <a:pPr indent="0" marL="0">
              <a:buNone/>
            </a:pPr>
            <a:r>
              <a:rPr lang="en-US" sz="1600" b="1" dirty="0">
                <a:solidFill>
                  <a:srgbClr val="2563EB"/>
                </a:solidFill>
                <a:latin typeface="Calibri" pitchFamily="34" charset="0"/>
                <a:ea typeface="Calibri" pitchFamily="34" charset="-122"/>
                <a:cs typeface="Calibri" pitchFamily="34" charset="-120"/>
              </a:rPr>
              <a:t>5.</a:t>
            </a:r>
            <a:endParaRPr lang="en-US" sz="1600" dirty="0"/>
          </a:p>
        </p:txBody>
      </p:sp>
      <p:sp>
        <p:nvSpPr>
          <p:cNvPr id="14" name="Text 12"/>
          <p:cNvSpPr/>
          <p:nvPr/>
        </p:nvSpPr>
        <p:spPr>
          <a:xfrm>
            <a:off x="1097280" y="4187952"/>
            <a:ext cx="7498080" cy="475488"/>
          </a:xfrm>
          <a:prstGeom prst="rect">
            <a:avLst/>
          </a:prstGeom>
          <a:noFill/>
          <a:ln/>
        </p:spPr>
        <p:txBody>
          <a:bodyPr wrap="square" rtlCol="0" anchor="ctr"/>
          <a:lstStyle/>
          <a:p>
            <a:pPr indent="0" marL="0">
              <a:buNone/>
            </a:pPr>
            <a:r>
              <a:rPr lang="en-US" sz="1300" dirty="0">
                <a:solidFill>
                  <a:srgbClr val="D1D5DB"/>
                </a:solidFill>
                <a:latin typeface="Calibri" pitchFamily="34" charset="0"/>
                <a:ea typeface="Calibri" pitchFamily="34" charset="-122"/>
                <a:cs typeface="Calibri" pitchFamily="34" charset="-120"/>
              </a:rPr>
              <a:t>Prototyping built the habit: test the riskiest parts first, not everything at once.</a:t>
            </a:r>
            <a:endParaRPr lang="en-US" sz="1300" dirty="0"/>
          </a:p>
        </p:txBody>
      </p:sp>
      <p:sp>
        <p:nvSpPr>
          <p:cNvPr id="15" name="Text 13"/>
          <p:cNvSpPr/>
          <p:nvPr/>
        </p:nvSpPr>
        <p:spPr>
          <a:xfrm>
            <a:off x="640080" y="4864608"/>
            <a:ext cx="82296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Kimberton AI Studio  ·  Internship Project</a:t>
            </a:r>
            <a:endParaRPr lang="en-US" sz="1000" dirty="0"/>
          </a:p>
        </p:txBody>
      </p:sp>
      <p:sp>
        <p:nvSpPr>
          <p:cNvPr id="16" name="Shape 14"/>
          <p:cNvSpPr/>
          <p:nvPr/>
        </p:nvSpPr>
        <p:spPr>
          <a:xfrm>
            <a:off x="0" y="5056632"/>
            <a:ext cx="9144000" cy="91440"/>
          </a:xfrm>
          <a:prstGeom prst="rect">
            <a:avLst/>
          </a:prstGeom>
          <a:solidFill>
            <a:srgbClr val="2563EB"/>
          </a:solidFill>
          <a:ln w="12700">
            <a:solidFill>
              <a:srgbClr val="2563E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2026-04-20T05:36:30Z</dcterms:created>
  <dcterms:modified xsi:type="dcterms:W3CDTF">2026-04-20T05:36:30Z</dcterms:modified>
</cp:coreProperties>
</file>